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FE27-4A9D-EE2A-956B-8A2516B75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1EC57-2B26-E0B5-F946-40BD2BA64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B454C-B56F-99B5-A33E-1C07441F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AA16-DD96-184E-23A0-EA7DBA54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2306B-DD32-5210-716B-D3FE5B94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588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58B6-30F6-A451-EFA0-A82D4833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AAA8-4329-4275-ABFA-807C6E798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FBE06-0C71-7CE0-4E58-EAF1A20B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9EE24-AB41-7D57-7083-F3AB6FB3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D064-80AB-2F73-B3AD-094C9D84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404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67BD2-37CC-680D-6F5E-80F1228E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1A582-71A5-BEFB-E015-9BED3428F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F929-6B59-3224-2772-B2C3493A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E0BDF-4290-A359-EBBF-E8AD6623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7955-29A3-D4A6-1E8A-203C5497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0540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5AE6-47EC-C777-B384-E903AC63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F8E7-0020-FDA1-3797-5AC707634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CB023-899D-B0D0-E51C-4BC1350FB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1E449-02B3-4EF9-D626-F499D5B3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9F748-A698-8A39-FB4D-7FA455F9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DA0E7-A834-2ABF-782C-5C59028E0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14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D0CE-09AC-E6CB-F045-AF57E0B0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7DAA9-036A-C75A-5EFA-EDF27730A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6D177-C887-00DD-7BBA-E9A23BAC9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E06EE-7824-2693-A214-2FA691A61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CABAE-0E1F-8F2B-4582-1BE903F73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7610B-5258-37E3-0B3F-213E15CF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BCAC2-580B-EFA8-901E-0F8247A14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3B22B-AC23-3E54-4655-0B7DDA54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7646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B63B-58E0-2FF2-0544-E048D1B3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5587A-450C-87EF-7DB3-223C130D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BACCB-493C-1BF7-3E88-705220EC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30AAC-8198-23F2-3906-AA3DEB87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0881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6D51E-8F84-B10B-A5B4-6CC676E9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74972-9EFA-7F65-D2B2-08C52C6F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7064E-148A-9417-4398-42C69F41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419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68CB-A010-6E78-08CF-46E060A3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61973-C677-4DE4-6CD5-61312A1C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D84EF-6762-308A-2EBE-E0E281C4B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3E2F8-7A25-38C8-91E3-91E2D4FC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D86AE-95EE-2E60-5855-CA2FD5213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07F26-B0FD-072F-C112-66C64705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1662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F7A8-9D44-6FFF-4331-86EF99933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36F09F-8B31-E173-6AFC-054152696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8BDB4-FF0E-2141-17D4-F0260F713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8B825-0F37-0FA9-51F8-922D901A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26E36-D70C-6B26-53C5-B132C844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9F42D-F1FD-588F-2E3B-16AE5F09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908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BB32-9D63-E7F2-FA75-11B62232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48BE9-C361-156C-CCCF-75F2D7B50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06E41-176B-56A5-6659-48488235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353C-67C8-5F29-36D1-3C698223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A70D9-AFDE-908B-7DC8-A7F0C6A2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665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9ACA1-4BF9-2B30-E0FF-A66A2835A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83CDE-C6B6-4952-E727-D9CCE9ECF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EEE0B-5B38-1221-B955-1D3DEBDB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8AF34-3206-4BF4-9F5D-437E749B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DBB06-06E3-3ABF-5A4C-37A6BA61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669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0184C-10D6-9C54-E8B3-D599C448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F6DFB-1CB0-7FE4-050D-7ABC8F9B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E23F5-929D-C156-3534-C35830EB3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8D3CB-2483-435B-9936-02116E0B5B90}" type="datetimeFigureOut">
              <a:rPr lang="en-MY" smtClean="0"/>
              <a:t>21/6/2025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4888F-21B5-5287-C162-44E92D8EF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AAEE0-282B-8107-63C5-096225607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9D010-1D50-4018-9C6C-1A7A0150C00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975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7F1CEEB-9210-9C38-9D9C-E36BCD283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657" y="1490607"/>
            <a:ext cx="60960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Acetic acid is an organic acid.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lowers the pH in the chicken’s intestine.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lower pH inhibits harmful bacteria.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promotes the </a:t>
            </a:r>
            <a:r>
              <a:rPr lang="en-US" altLang="en-US" sz="2500" dirty="0">
                <a:latin typeface="+mj-lt"/>
              </a:rPr>
              <a:t>growth of beneficial bacteria, such as Lactobacillus.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MY" sz="2500" dirty="0">
                <a:latin typeface="+mj-lt"/>
              </a:rPr>
              <a:t>Alternative to antibiotics</a:t>
            </a:r>
            <a:endParaRPr lang="en-US" altLang="en-US" sz="25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A6896-44A3-B5EE-715A-BF1B1ABA47A6}"/>
              </a:ext>
            </a:extLst>
          </p:cNvPr>
          <p:cNvSpPr txBox="1"/>
          <p:nvPr/>
        </p:nvSpPr>
        <p:spPr>
          <a:xfrm>
            <a:off x="3463451" y="5060735"/>
            <a:ext cx="679268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000" dirty="0"/>
              <a:t>Recommended inclusion rate:</a:t>
            </a:r>
          </a:p>
          <a:p>
            <a:pPr algn="ctr">
              <a:buNone/>
            </a:pPr>
            <a:r>
              <a:rPr lang="en-US" sz="3000" b="1" dirty="0"/>
              <a:t>0.1% to 0.5%</a:t>
            </a:r>
            <a:r>
              <a:rPr lang="en-US" sz="3000" dirty="0"/>
              <a:t> (i.e., </a:t>
            </a:r>
            <a:r>
              <a:rPr lang="en-US" sz="3000" b="1" dirty="0"/>
              <a:t>1 to 5 mL/1L</a:t>
            </a:r>
            <a:r>
              <a:rPr lang="en-US" sz="3000" dirty="0"/>
              <a:t> water)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B0BD57-1C5C-E0C5-FB2A-E8CD149437EC}"/>
              </a:ext>
            </a:extLst>
          </p:cNvPr>
          <p:cNvSpPr txBox="1"/>
          <p:nvPr/>
        </p:nvSpPr>
        <p:spPr>
          <a:xfrm>
            <a:off x="2853850" y="427659"/>
            <a:ext cx="679268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/>
              <a:t>ACETIC ACID</a:t>
            </a:r>
            <a:r>
              <a:rPr lang="en-US" sz="4000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0734FC-3A23-04F6-D1CE-DEF8B2FB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54" y="1145478"/>
            <a:ext cx="2172829" cy="391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07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FFB1CF-0A5A-66DD-8E80-8A30A953B4E6}"/>
              </a:ext>
            </a:extLst>
          </p:cNvPr>
          <p:cNvSpPr txBox="1"/>
          <p:nvPr/>
        </p:nvSpPr>
        <p:spPr>
          <a:xfrm>
            <a:off x="3842657" y="1139707"/>
            <a:ext cx="62701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Kitchen acetic acid (white vinegar) is typically 4 - 6% in concentration</a:t>
            </a:r>
            <a:r>
              <a:rPr lang="en-US" dirty="0"/>
              <a:t>.</a:t>
            </a:r>
            <a:endParaRPr lang="en-MY" dirty="0"/>
          </a:p>
        </p:txBody>
      </p:sp>
      <p:pic>
        <p:nvPicPr>
          <p:cNvPr id="3074" name="Picture 2" descr="Tamin Cuka Buatan | myaeon2go">
            <a:extLst>
              <a:ext uri="{FF2B5EF4-FFF2-40B4-BE49-F238E27FC236}">
                <a16:creationId xmlns:a16="http://schemas.microsoft.com/office/drawing/2014/main" id="{D06022D5-F2B0-7AA5-6685-B204D24BB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40" t="4604" r="39088" b="4127"/>
          <a:stretch>
            <a:fillRect/>
          </a:stretch>
        </p:blipFill>
        <p:spPr bwMode="auto">
          <a:xfrm>
            <a:off x="1219200" y="650421"/>
            <a:ext cx="1872343" cy="555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F289A4-465B-46DD-4C13-064227D14586}"/>
              </a:ext>
            </a:extLst>
          </p:cNvPr>
          <p:cNvSpPr txBox="1"/>
          <p:nvPr/>
        </p:nvSpPr>
        <p:spPr>
          <a:xfrm>
            <a:off x="4152899" y="3533080"/>
            <a:ext cx="5818415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MY" sz="3500" b="1" dirty="0"/>
              <a:t>Proposed Inclusion Rate: </a:t>
            </a:r>
          </a:p>
          <a:p>
            <a:pPr algn="ctr"/>
            <a:r>
              <a:rPr lang="en-MY" sz="3500" b="1" dirty="0"/>
              <a:t>1L </a:t>
            </a:r>
            <a:r>
              <a:rPr lang="en-MY" sz="3500" b="1" dirty="0">
                <a:latin typeface="Aptos Narrow" panose="020B0004020202020204" pitchFamily="34" charset="0"/>
              </a:rPr>
              <a:t>→ </a:t>
            </a:r>
            <a:r>
              <a:rPr lang="en-MY" sz="3500" b="1" dirty="0"/>
              <a:t>500 gallons </a:t>
            </a:r>
            <a:r>
              <a:rPr lang="en-MY" sz="3500" dirty="0"/>
              <a:t>of water</a:t>
            </a:r>
          </a:p>
        </p:txBody>
      </p:sp>
    </p:spTree>
    <p:extLst>
      <p:ext uri="{BB962C8B-B14F-4D97-AF65-F5344CB8AC3E}">
        <p14:creationId xmlns:p14="http://schemas.microsoft.com/office/powerpoint/2010/main" val="3869738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55A2D3F-21A0-1BE3-54D4-AFA10966F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534" y="451760"/>
            <a:ext cx="5205530" cy="27241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D2B857-2FFB-E92C-9B10-BA9FB565B827}"/>
              </a:ext>
            </a:extLst>
          </p:cNvPr>
          <p:cNvSpPr txBox="1"/>
          <p:nvPr/>
        </p:nvSpPr>
        <p:spPr>
          <a:xfrm>
            <a:off x="794657" y="3581029"/>
            <a:ext cx="29173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Amount of pure acetic acid =</a:t>
            </a:r>
            <a:endParaRPr lang="en-MY" sz="25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98B951-15D5-BF3C-A298-32A666537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534" y="3639225"/>
            <a:ext cx="6672943" cy="7453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55B6A72-C027-3E81-9542-5B596810EB01}"/>
              </a:ext>
            </a:extLst>
          </p:cNvPr>
          <p:cNvSpPr txBox="1"/>
          <p:nvPr/>
        </p:nvSpPr>
        <p:spPr>
          <a:xfrm>
            <a:off x="794657" y="4996935"/>
            <a:ext cx="31895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500" b="1" dirty="0"/>
              <a:t>Final concentration (%) =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784DB4-DEFB-63C0-2F1E-A9E141987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534" y="4867367"/>
            <a:ext cx="6672943" cy="9660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540C109-4F3E-F0C5-82E9-AC0E07AA583A}"/>
              </a:ext>
            </a:extLst>
          </p:cNvPr>
          <p:cNvSpPr txBox="1"/>
          <p:nvPr/>
        </p:nvSpPr>
        <p:spPr>
          <a:xfrm>
            <a:off x="620486" y="999291"/>
            <a:ext cx="29173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Calculation for 5% acetic acid =</a:t>
            </a:r>
            <a:endParaRPr lang="en-MY" sz="2500" b="1" dirty="0"/>
          </a:p>
        </p:txBody>
      </p:sp>
    </p:spTree>
    <p:extLst>
      <p:ext uri="{BB962C8B-B14F-4D97-AF65-F5344CB8AC3E}">
        <p14:creationId xmlns:p14="http://schemas.microsoft.com/office/powerpoint/2010/main" val="29937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818DBD-A832-B6CE-8500-37BFBA3BCE37}"/>
              </a:ext>
            </a:extLst>
          </p:cNvPr>
          <p:cNvSpPr txBox="1"/>
          <p:nvPr/>
        </p:nvSpPr>
        <p:spPr>
          <a:xfrm>
            <a:off x="3298371" y="4301817"/>
            <a:ext cx="705394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200" b="1" dirty="0"/>
              <a:t>1L </a:t>
            </a:r>
            <a:r>
              <a:rPr lang="en-MY" sz="3200" b="1" dirty="0">
                <a:latin typeface="Aptos Narrow" panose="020B0004020202020204" pitchFamily="34" charset="0"/>
              </a:rPr>
              <a:t>→ </a:t>
            </a:r>
            <a:r>
              <a:rPr lang="en-MY" sz="3200" b="1" dirty="0"/>
              <a:t>500 gallons </a:t>
            </a:r>
            <a:r>
              <a:rPr lang="en-MY" sz="3200" dirty="0"/>
              <a:t>of water</a:t>
            </a:r>
          </a:p>
          <a:p>
            <a:r>
              <a:rPr lang="en-US" sz="3000" dirty="0"/>
              <a:t>is below the typical range (0.1% to 0.5%). So it is generally safe.</a:t>
            </a:r>
            <a:endParaRPr lang="en-MY"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B0219D-C9E2-C36B-AECA-F52E13C3C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45" y="1001911"/>
            <a:ext cx="5229310" cy="2911889"/>
          </a:xfrm>
          <a:prstGeom prst="rect">
            <a:avLst/>
          </a:prstGeom>
        </p:spPr>
      </p:pic>
      <p:pic>
        <p:nvPicPr>
          <p:cNvPr id="4098" name="Picture 2" descr="Red Arrow, red , arrow , arrows , pfeil , rot , kagi , kaegi - GIF animasi  gratis - PicMix">
            <a:extLst>
              <a:ext uri="{FF2B5EF4-FFF2-40B4-BE49-F238E27FC236}">
                <a16:creationId xmlns:a16="http://schemas.microsoft.com/office/drawing/2014/main" id="{39AB0452-867F-CEA6-558A-1ED1EA35D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908621">
            <a:off x="2303766" y="1046258"/>
            <a:ext cx="877045" cy="236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279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NURUL NABILA BINTI BAHSHARUDIN</dc:creator>
  <cp:lastModifiedBy>NURUL NABILA BINTI BAHSHARUDIN</cp:lastModifiedBy>
  <cp:revision>3</cp:revision>
  <dcterms:created xsi:type="dcterms:W3CDTF">2025-06-20T22:24:20Z</dcterms:created>
  <dcterms:modified xsi:type="dcterms:W3CDTF">2025-06-20T23:32:52Z</dcterms:modified>
</cp:coreProperties>
</file>